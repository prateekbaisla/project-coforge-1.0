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99" r:id="rId4"/>
  </p:sldMasterIdLst>
  <p:notesMasterIdLst>
    <p:notesMasterId r:id="rId19"/>
  </p:notesMasterIdLst>
  <p:handoutMasterIdLst>
    <p:handoutMasterId r:id="rId20"/>
  </p:handoutMasterIdLst>
  <p:sldIdLst>
    <p:sldId id="347" r:id="rId5"/>
    <p:sldId id="340" r:id="rId6"/>
    <p:sldId id="348" r:id="rId7"/>
    <p:sldId id="342" r:id="rId8"/>
    <p:sldId id="333" r:id="rId9"/>
    <p:sldId id="349" r:id="rId10"/>
    <p:sldId id="350" r:id="rId11"/>
    <p:sldId id="351" r:id="rId12"/>
    <p:sldId id="352" r:id="rId13"/>
    <p:sldId id="356" r:id="rId14"/>
    <p:sldId id="353" r:id="rId15"/>
    <p:sldId id="354" r:id="rId16"/>
    <p:sldId id="355" r:id="rId17"/>
    <p:sldId id="34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93507"/>
  </p:normalViewPr>
  <p:slideViewPr>
    <p:cSldViewPr snapToGrid="0">
      <p:cViewPr>
        <p:scale>
          <a:sx n="50" d="100"/>
          <a:sy n="50" d="100"/>
        </p:scale>
        <p:origin x="102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2438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image" Target="../media/image14.png"/><Relationship Id="rId6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svg"/><Relationship Id="rId1" Type="http://schemas.openxmlformats.org/officeDocument/2006/relationships/image" Target="../media/image14.png"/><Relationship Id="rId6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951F77-4E36-4893-91C6-3151A6D516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B3944D-D926-4D0F-A305-F5740000747A}">
      <dgm:prSet custT="1"/>
      <dgm:spPr/>
      <dgm:t>
        <a:bodyPr/>
        <a:lstStyle/>
        <a:p>
          <a:r>
            <a:rPr lang="en-US" sz="1600" b="0" i="0" dirty="0" smtClean="0">
              <a:solidFill>
                <a:schemeClr val="tx2"/>
              </a:solidFill>
            </a:rPr>
            <a:t>GITHUB REPO - https://github.com/prateekbaisla/Azure-Cloud-Data-for-BFSI/tree/main</a:t>
          </a:r>
          <a:endParaRPr lang="en-US" sz="1800" b="0" i="0" dirty="0" smtClean="0">
            <a:solidFill>
              <a:schemeClr val="tx1"/>
            </a:solidFill>
          </a:endParaRPr>
        </a:p>
      </dgm:t>
    </dgm:pt>
    <dgm:pt modelId="{2EA7AC4A-E82B-43F0-A6EA-F599428578FC}" type="parTrans" cxnId="{92D3A76D-ADBB-49F3-861D-D2B74F81812E}">
      <dgm:prSet/>
      <dgm:spPr/>
      <dgm:t>
        <a:bodyPr/>
        <a:lstStyle/>
        <a:p>
          <a:endParaRPr lang="en-US" sz="1600" b="0" i="0">
            <a:solidFill>
              <a:schemeClr val="tx2"/>
            </a:solidFill>
          </a:endParaRPr>
        </a:p>
      </dgm:t>
    </dgm:pt>
    <dgm:pt modelId="{8862CE7B-AE72-45E8-B982-5279C14F7985}" type="sibTrans" cxnId="{92D3A76D-ADBB-49F3-861D-D2B74F81812E}">
      <dgm:prSet/>
      <dgm:spPr/>
      <dgm:t>
        <a:bodyPr/>
        <a:lstStyle/>
        <a:p>
          <a:endParaRPr lang="en-US" sz="1600" b="0" i="0">
            <a:solidFill>
              <a:schemeClr val="tx2"/>
            </a:solidFill>
          </a:endParaRPr>
        </a:p>
      </dgm:t>
    </dgm:pt>
    <dgm:pt modelId="{BC68B812-A325-41D8-A08E-C2392666DF66}">
      <dgm:prSet custT="1"/>
      <dgm:spPr/>
      <dgm:t>
        <a:bodyPr/>
        <a:lstStyle/>
        <a:p>
          <a:r>
            <a:rPr lang="en-US" sz="2000" b="1" i="0" dirty="0">
              <a:solidFill>
                <a:schemeClr val="tx2"/>
              </a:solidFill>
            </a:rPr>
            <a:t>Email</a:t>
          </a:r>
          <a:r>
            <a:rPr lang="en-US" sz="2000" b="0" i="0" dirty="0">
              <a:solidFill>
                <a:schemeClr val="tx2"/>
              </a:solidFill>
            </a:rPr>
            <a:t/>
          </a:r>
          <a:br>
            <a:rPr lang="en-US" sz="2000" b="0" i="0" dirty="0">
              <a:solidFill>
                <a:schemeClr val="tx2"/>
              </a:solidFill>
            </a:rPr>
          </a:br>
          <a:r>
            <a:rPr lang="en-US" sz="2000" b="0" i="0" dirty="0" smtClean="0">
              <a:solidFill>
                <a:schemeClr val="tx2"/>
              </a:solidFill>
            </a:rPr>
            <a:t>prateekbaisla.work@gmail.com</a:t>
          </a:r>
          <a:endParaRPr lang="en-US" sz="1600" b="0" i="0" dirty="0">
            <a:solidFill>
              <a:schemeClr val="tx2"/>
            </a:solidFill>
          </a:endParaRPr>
        </a:p>
      </dgm:t>
    </dgm:pt>
    <dgm:pt modelId="{23A01A1D-B409-49E7-91BA-2321B9A237C2}" type="parTrans" cxnId="{AAD26E9B-C129-46B7-BFCC-98D5999B6B9A}">
      <dgm:prSet/>
      <dgm:spPr/>
      <dgm:t>
        <a:bodyPr/>
        <a:lstStyle/>
        <a:p>
          <a:endParaRPr lang="en-US" sz="1600" b="0" i="0">
            <a:solidFill>
              <a:schemeClr val="tx2"/>
            </a:solidFill>
          </a:endParaRPr>
        </a:p>
      </dgm:t>
    </dgm:pt>
    <dgm:pt modelId="{E950D3C2-0472-429B-98B0-86C856FA65A1}" type="sibTrans" cxnId="{AAD26E9B-C129-46B7-BFCC-98D5999B6B9A}">
      <dgm:prSet/>
      <dgm:spPr/>
      <dgm:t>
        <a:bodyPr/>
        <a:lstStyle/>
        <a:p>
          <a:endParaRPr lang="en-US" sz="1600" b="0" i="0">
            <a:solidFill>
              <a:schemeClr val="tx2"/>
            </a:solidFill>
          </a:endParaRPr>
        </a:p>
      </dgm:t>
    </dgm:pt>
    <dgm:pt modelId="{F61FEBF0-CB2F-4364-8F44-722FB7578D18}" type="pres">
      <dgm:prSet presAssocID="{D7951F77-4E36-4893-91C6-3151A6D5169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50C455E-839B-4494-8D06-326978CB28A7}" type="pres">
      <dgm:prSet presAssocID="{65B3944D-D926-4D0F-A305-F5740000747A}" presName="compNode" presStyleCnt="0"/>
      <dgm:spPr/>
    </dgm:pt>
    <dgm:pt modelId="{1DA8A0A9-929F-455B-B8BD-92EC86B6A862}" type="pres">
      <dgm:prSet presAssocID="{65B3944D-D926-4D0F-A305-F5740000747A}" presName="bgRect" presStyleLbl="bgShp" presStyleIdx="0" presStyleCnt="2"/>
      <dgm:spPr>
        <a:prstGeom prst="rect">
          <a:avLst/>
        </a:prstGeom>
        <a:noFill/>
        <a:ln w="22225">
          <a:noFill/>
        </a:ln>
        <a:effectLst/>
      </dgm:spPr>
    </dgm:pt>
    <dgm:pt modelId="{70C56EED-B0B5-4180-A100-474B69DE81C3}" type="pres">
      <dgm:prSet presAssocID="{65B3944D-D926-4D0F-A305-F5740000747A}" presName="iconRect" presStyleLbl="node1" presStyleIdx="0" presStyleCnt="2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1827E2BA-EA13-4751-82F2-976CBDED6C82}" type="pres">
      <dgm:prSet presAssocID="{65B3944D-D926-4D0F-A305-F5740000747A}" presName="spaceRect" presStyleCnt="0"/>
      <dgm:spPr/>
    </dgm:pt>
    <dgm:pt modelId="{C38A5A37-0883-4EE3-9002-010A6D324785}" type="pres">
      <dgm:prSet presAssocID="{65B3944D-D926-4D0F-A305-F5740000747A}" presName="parTx" presStyleLbl="revTx" presStyleIdx="0" presStyleCnt="2" custScaleX="100000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1CE6EA1-CB92-41CD-8FAE-4CFF03E26BE6}" type="pres">
      <dgm:prSet presAssocID="{8862CE7B-AE72-45E8-B982-5279C14F7985}" presName="sibTrans" presStyleCnt="0"/>
      <dgm:spPr/>
    </dgm:pt>
    <dgm:pt modelId="{763367BB-4527-4646-8015-D79C10A337E8}" type="pres">
      <dgm:prSet presAssocID="{BC68B812-A325-41D8-A08E-C2392666DF66}" presName="compNode" presStyleCnt="0"/>
      <dgm:spPr/>
    </dgm:pt>
    <dgm:pt modelId="{712D2B29-4977-4B70-ABE9-215A9E804015}" type="pres">
      <dgm:prSet presAssocID="{BC68B812-A325-41D8-A08E-C2392666DF66}" presName="bgRect" presStyleLbl="bgShp" presStyleIdx="1" presStyleCnt="2"/>
      <dgm:spPr>
        <a:prstGeom prst="rect">
          <a:avLst/>
        </a:prstGeom>
        <a:noFill/>
        <a:ln w="22225">
          <a:noFill/>
        </a:ln>
        <a:effectLst/>
      </dgm:spPr>
    </dgm:pt>
    <dgm:pt modelId="{6C7A9EF9-02EB-4D4D-A251-EC3A2F0EFD57}" type="pres">
      <dgm:prSet presAssocID="{BC68B812-A325-41D8-A08E-C2392666DF66}" presName="iconRect" presStyleLbl="node1" presStyleIdx="1" presStyleCnt="2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3497251-DF6D-4038-B1ED-CA29B33C0A2F}" type="pres">
      <dgm:prSet presAssocID="{BC68B812-A325-41D8-A08E-C2392666DF66}" presName="spaceRect" presStyleCnt="0"/>
      <dgm:spPr/>
    </dgm:pt>
    <dgm:pt modelId="{516FEABD-B159-4827-91AC-07F0FC9EFC37}" type="pres">
      <dgm:prSet presAssocID="{BC68B812-A325-41D8-A08E-C2392666DF66}" presName="parTx" presStyleLbl="revTx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F57AC0B7-F603-4C41-BF48-9041FAA60E8E}" type="presOf" srcId="{65B3944D-D926-4D0F-A305-F5740000747A}" destId="{C38A5A37-0883-4EE3-9002-010A6D324785}" srcOrd="0" destOrd="0" presId="urn:microsoft.com/office/officeart/2018/2/layout/IconVerticalSolidList"/>
    <dgm:cxn modelId="{9D5AFC8C-3FE5-4AED-9F29-5D039E47B81F}" type="presOf" srcId="{D7951F77-4E36-4893-91C6-3151A6D51694}" destId="{F61FEBF0-CB2F-4364-8F44-722FB7578D18}" srcOrd="0" destOrd="0" presId="urn:microsoft.com/office/officeart/2018/2/layout/IconVerticalSolidList"/>
    <dgm:cxn modelId="{92D3A76D-ADBB-49F3-861D-D2B74F81812E}" srcId="{D7951F77-4E36-4893-91C6-3151A6D51694}" destId="{65B3944D-D926-4D0F-A305-F5740000747A}" srcOrd="0" destOrd="0" parTransId="{2EA7AC4A-E82B-43F0-A6EA-F599428578FC}" sibTransId="{8862CE7B-AE72-45E8-B982-5279C14F7985}"/>
    <dgm:cxn modelId="{90986C5B-BF7B-4231-8046-782BAE77E788}" type="presOf" srcId="{BC68B812-A325-41D8-A08E-C2392666DF66}" destId="{516FEABD-B159-4827-91AC-07F0FC9EFC37}" srcOrd="0" destOrd="0" presId="urn:microsoft.com/office/officeart/2018/2/layout/IconVerticalSolidList"/>
    <dgm:cxn modelId="{AAD26E9B-C129-46B7-BFCC-98D5999B6B9A}" srcId="{D7951F77-4E36-4893-91C6-3151A6D51694}" destId="{BC68B812-A325-41D8-A08E-C2392666DF66}" srcOrd="1" destOrd="0" parTransId="{23A01A1D-B409-49E7-91BA-2321B9A237C2}" sibTransId="{E950D3C2-0472-429B-98B0-86C856FA65A1}"/>
    <dgm:cxn modelId="{30F222E0-DF1F-4484-B140-6B7C6520EA89}" type="presParOf" srcId="{F61FEBF0-CB2F-4364-8F44-722FB7578D18}" destId="{F50C455E-839B-4494-8D06-326978CB28A7}" srcOrd="0" destOrd="0" presId="urn:microsoft.com/office/officeart/2018/2/layout/IconVerticalSolidList"/>
    <dgm:cxn modelId="{4FA9135E-4FFF-4848-9413-1BF026DB0BED}" type="presParOf" srcId="{F50C455E-839B-4494-8D06-326978CB28A7}" destId="{1DA8A0A9-929F-455B-B8BD-92EC86B6A862}" srcOrd="0" destOrd="0" presId="urn:microsoft.com/office/officeart/2018/2/layout/IconVerticalSolidList"/>
    <dgm:cxn modelId="{D16731A0-71A2-43AF-BF53-727392BD9F51}" type="presParOf" srcId="{F50C455E-839B-4494-8D06-326978CB28A7}" destId="{70C56EED-B0B5-4180-A100-474B69DE81C3}" srcOrd="1" destOrd="0" presId="urn:microsoft.com/office/officeart/2018/2/layout/IconVerticalSolidList"/>
    <dgm:cxn modelId="{4A8AA9B9-F7DD-4A1D-B570-4456CEC74161}" type="presParOf" srcId="{F50C455E-839B-4494-8D06-326978CB28A7}" destId="{1827E2BA-EA13-4751-82F2-976CBDED6C82}" srcOrd="2" destOrd="0" presId="urn:microsoft.com/office/officeart/2018/2/layout/IconVerticalSolidList"/>
    <dgm:cxn modelId="{DDE1A35C-0892-4749-9900-354FF724E1E5}" type="presParOf" srcId="{F50C455E-839B-4494-8D06-326978CB28A7}" destId="{C38A5A37-0883-4EE3-9002-010A6D324785}" srcOrd="3" destOrd="0" presId="urn:microsoft.com/office/officeart/2018/2/layout/IconVerticalSolidList"/>
    <dgm:cxn modelId="{D3D3D519-863B-49A0-9C3F-051416EA153D}" type="presParOf" srcId="{F61FEBF0-CB2F-4364-8F44-722FB7578D18}" destId="{21CE6EA1-CB92-41CD-8FAE-4CFF03E26BE6}" srcOrd="1" destOrd="0" presId="urn:microsoft.com/office/officeart/2018/2/layout/IconVerticalSolidList"/>
    <dgm:cxn modelId="{AC8A67FF-09EA-4C04-AE25-5A9F33A57654}" type="presParOf" srcId="{F61FEBF0-CB2F-4364-8F44-722FB7578D18}" destId="{763367BB-4527-4646-8015-D79C10A337E8}" srcOrd="2" destOrd="0" presId="urn:microsoft.com/office/officeart/2018/2/layout/IconVerticalSolidList"/>
    <dgm:cxn modelId="{5BC094CB-F2E0-4918-9AC7-082F24D0AC9E}" type="presParOf" srcId="{763367BB-4527-4646-8015-D79C10A337E8}" destId="{712D2B29-4977-4B70-ABE9-215A9E804015}" srcOrd="0" destOrd="0" presId="urn:microsoft.com/office/officeart/2018/2/layout/IconVerticalSolidList"/>
    <dgm:cxn modelId="{8583FA80-D558-4B21-9EFE-C8F712D37D97}" type="presParOf" srcId="{763367BB-4527-4646-8015-D79C10A337E8}" destId="{6C7A9EF9-02EB-4D4D-A251-EC3A2F0EFD57}" srcOrd="1" destOrd="0" presId="urn:microsoft.com/office/officeart/2018/2/layout/IconVerticalSolidList"/>
    <dgm:cxn modelId="{FF2B3AFE-5D78-4AF4-BD5D-10DA64FD2E34}" type="presParOf" srcId="{763367BB-4527-4646-8015-D79C10A337E8}" destId="{13497251-DF6D-4038-B1ED-CA29B33C0A2F}" srcOrd="2" destOrd="0" presId="urn:microsoft.com/office/officeart/2018/2/layout/IconVerticalSolidList"/>
    <dgm:cxn modelId="{03E26A79-059D-4B0B-B311-C422C1F45874}" type="presParOf" srcId="{763367BB-4527-4646-8015-D79C10A337E8}" destId="{516FEABD-B159-4827-91AC-07F0FC9EFC37}" srcOrd="3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A8A0A9-929F-455B-B8BD-92EC86B6A862}">
      <dsp:nvSpPr>
        <dsp:cNvPr id="0" name=""/>
        <dsp:cNvSpPr/>
      </dsp:nvSpPr>
      <dsp:spPr>
        <a:xfrm>
          <a:off x="0" y="61918"/>
          <a:ext cx="8008219" cy="71130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56EED-B0B5-4180-A100-474B69DE81C3}">
      <dsp:nvSpPr>
        <dsp:cNvPr id="0" name=""/>
        <dsp:cNvSpPr/>
      </dsp:nvSpPr>
      <dsp:spPr>
        <a:xfrm>
          <a:off x="215170" y="221962"/>
          <a:ext cx="391218" cy="391218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A5A37-0883-4EE3-9002-010A6D324785}">
      <dsp:nvSpPr>
        <dsp:cNvPr id="0" name=""/>
        <dsp:cNvSpPr/>
      </dsp:nvSpPr>
      <dsp:spPr>
        <a:xfrm>
          <a:off x="821558" y="61918"/>
          <a:ext cx="7170961" cy="711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80" tIns="75280" rIns="75280" bIns="7528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i="0" kern="1200" dirty="0" smtClean="0">
              <a:solidFill>
                <a:schemeClr val="tx2"/>
              </a:solidFill>
            </a:rPr>
            <a:t>GITHUB REPO - https://github.com/prateekbaisla/Azure-Cloud-Data-for-BFSI/tree/main</a:t>
          </a:r>
          <a:endParaRPr lang="en-US" sz="1800" b="0" i="0" kern="1200" dirty="0" smtClean="0">
            <a:solidFill>
              <a:schemeClr val="tx1"/>
            </a:solidFill>
          </a:endParaRPr>
        </a:p>
      </dsp:txBody>
      <dsp:txXfrm>
        <a:off x="821558" y="61918"/>
        <a:ext cx="7170961" cy="711306"/>
      </dsp:txXfrm>
    </dsp:sp>
    <dsp:sp modelId="{712D2B29-4977-4B70-ABE9-215A9E804015}">
      <dsp:nvSpPr>
        <dsp:cNvPr id="0" name=""/>
        <dsp:cNvSpPr/>
      </dsp:nvSpPr>
      <dsp:spPr>
        <a:xfrm>
          <a:off x="0" y="898612"/>
          <a:ext cx="8008219" cy="711306"/>
        </a:xfrm>
        <a:prstGeom prst="rect">
          <a:avLst/>
        </a:prstGeom>
        <a:noFill/>
        <a:ln w="22225"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A9EF9-02EB-4D4D-A251-EC3A2F0EFD57}">
      <dsp:nvSpPr>
        <dsp:cNvPr id="0" name=""/>
        <dsp:cNvSpPr/>
      </dsp:nvSpPr>
      <dsp:spPr>
        <a:xfrm>
          <a:off x="215170" y="1058656"/>
          <a:ext cx="391218" cy="391218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FEABD-B159-4827-91AC-07F0FC9EFC37}">
      <dsp:nvSpPr>
        <dsp:cNvPr id="0" name=""/>
        <dsp:cNvSpPr/>
      </dsp:nvSpPr>
      <dsp:spPr>
        <a:xfrm>
          <a:off x="821558" y="898612"/>
          <a:ext cx="7170961" cy="7113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280" tIns="75280" rIns="75280" bIns="7528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i="0" kern="1200" dirty="0">
              <a:solidFill>
                <a:schemeClr val="tx2"/>
              </a:solidFill>
            </a:rPr>
            <a:t>Email</a:t>
          </a:r>
          <a:r>
            <a:rPr lang="en-US" sz="2000" b="0" i="0" kern="1200" dirty="0">
              <a:solidFill>
                <a:schemeClr val="tx2"/>
              </a:solidFill>
            </a:rPr>
            <a:t/>
          </a:r>
          <a:br>
            <a:rPr lang="en-US" sz="2000" b="0" i="0" kern="1200" dirty="0">
              <a:solidFill>
                <a:schemeClr val="tx2"/>
              </a:solidFill>
            </a:rPr>
          </a:br>
          <a:r>
            <a:rPr lang="en-US" sz="2000" b="0" i="0" kern="1200" dirty="0" smtClean="0">
              <a:solidFill>
                <a:schemeClr val="tx2"/>
              </a:solidFill>
            </a:rPr>
            <a:t>prateekbaisla.work@gmail.com</a:t>
          </a:r>
          <a:endParaRPr lang="en-US" sz="1600" b="0" i="0" kern="1200" dirty="0">
            <a:solidFill>
              <a:schemeClr val="tx2"/>
            </a:solidFill>
          </a:endParaRPr>
        </a:p>
      </dsp:txBody>
      <dsp:txXfrm>
        <a:off x="821558" y="898612"/>
        <a:ext cx="7170961" cy="7113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08916B-8145-4DD4-A4F0-4944307B25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8868C6-14E0-456B-8627-6ED3D5EA25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7BDEB-D08A-4BCC-82C3-65677B6346B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B6480-DE26-42CA-B861-D6EFA45FC7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DB9B3-0030-40C0-AFA9-FACA7EA513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F12C2-4DB0-4437-81E7-A0C89F24A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9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182BB-4E27-4552-8EE4-33C8EF731305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442E7-1E35-4707-8504-AE37222ED5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8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5688E5B1-4139-AD48-BA45-9CE6A55A1ED0}"/>
              </a:ext>
            </a:extLst>
          </p:cNvPr>
          <p:cNvSpPr/>
          <p:nvPr userDrawn="1"/>
        </p:nvSpPr>
        <p:spPr>
          <a:xfrm>
            <a:off x="109259" y="4564339"/>
            <a:ext cx="1016001" cy="381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28856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8660979-B6F8-480C-AAC7-48903CC3ECFC}"/>
              </a:ext>
            </a:extLst>
          </p:cNvPr>
          <p:cNvSpPr/>
          <p:nvPr userDrawn="1"/>
        </p:nvSpPr>
        <p:spPr>
          <a:xfrm>
            <a:off x="0" y="806538"/>
            <a:ext cx="453601" cy="36304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0256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DC1E635-F6E7-F248-9B85-120581E81180}"/>
              </a:ext>
            </a:extLst>
          </p:cNvPr>
          <p:cNvSpPr/>
          <p:nvPr userDrawn="1"/>
        </p:nvSpPr>
        <p:spPr>
          <a:xfrm>
            <a:off x="109259" y="5552029"/>
            <a:ext cx="1016001" cy="381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52095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2B4D55A-70C8-E04B-B7E3-3355A1131891}"/>
              </a:ext>
            </a:extLst>
          </p:cNvPr>
          <p:cNvSpPr/>
          <p:nvPr userDrawn="1"/>
        </p:nvSpPr>
        <p:spPr>
          <a:xfrm>
            <a:off x="0" y="806538"/>
            <a:ext cx="453601" cy="36304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88866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E5F6035-AACE-6847-8AF4-EB3C4D79EE95}"/>
              </a:ext>
            </a:extLst>
          </p:cNvPr>
          <p:cNvSpPr/>
          <p:nvPr userDrawn="1"/>
        </p:nvSpPr>
        <p:spPr>
          <a:xfrm>
            <a:off x="0" y="806538"/>
            <a:ext cx="453601" cy="36304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914FC0-3771-6041-9E7C-1C624C85A803}"/>
              </a:ext>
            </a:extLst>
          </p:cNvPr>
          <p:cNvGrpSpPr/>
          <p:nvPr userDrawn="1"/>
        </p:nvGrpSpPr>
        <p:grpSpPr>
          <a:xfrm>
            <a:off x="5463336" y="2250891"/>
            <a:ext cx="1016001" cy="3839220"/>
            <a:chOff x="5510085" y="2250891"/>
            <a:chExt cx="1016001" cy="383922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AED3128-974C-7F4B-BF36-A3836D1725F6}"/>
                </a:ext>
              </a:extLst>
            </p:cNvPr>
            <p:cNvCxnSpPr/>
            <p:nvPr/>
          </p:nvCxnSpPr>
          <p:spPr>
            <a:xfrm>
              <a:off x="6018085" y="2340176"/>
              <a:ext cx="0" cy="37499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">
              <a:extLst>
                <a:ext uri="{FF2B5EF4-FFF2-40B4-BE49-F238E27FC236}">
                  <a16:creationId xmlns:a16="http://schemas.microsoft.com/office/drawing/2014/main" id="{2D2224CB-5DFF-3D4B-816B-1A44228A23EE}"/>
                </a:ext>
              </a:extLst>
            </p:cNvPr>
            <p:cNvSpPr/>
            <p:nvPr/>
          </p:nvSpPr>
          <p:spPr>
            <a:xfrm>
              <a:off x="5510085" y="2250891"/>
              <a:ext cx="1016001" cy="381001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algn="ctr" defTabSz="412750" hangingPunct="0">
                <a:defRPr sz="3200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lang="en-US" sz="1600" kern="0" noProof="0">
                  <a:solidFill>
                    <a:srgbClr val="FFFFFF"/>
                  </a:solidFill>
                  <a:latin typeface="Helvetica Light"/>
                  <a:sym typeface="Helvetica Light"/>
                </a:rPr>
                <a:t>VS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2874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C16CE43-CB3C-7544-B05B-0A9F706D6FD8}"/>
              </a:ext>
            </a:extLst>
          </p:cNvPr>
          <p:cNvSpPr/>
          <p:nvPr userDrawn="1"/>
        </p:nvSpPr>
        <p:spPr>
          <a:xfrm>
            <a:off x="0" y="806538"/>
            <a:ext cx="453601" cy="36304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71194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259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756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0258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67425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3754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8197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77361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544001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0597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8393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56600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F70F810B-4DED-A045-A1D2-7605E821997B}"/>
              </a:ext>
            </a:extLst>
          </p:cNvPr>
          <p:cNvSpPr/>
          <p:nvPr userDrawn="1"/>
        </p:nvSpPr>
        <p:spPr>
          <a:xfrm>
            <a:off x="0" y="4735651"/>
            <a:ext cx="1016001" cy="381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194DD3B-943C-8740-A545-0DA0E5FD2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26632" y="4651968"/>
            <a:ext cx="3658324" cy="997102"/>
          </a:xfrm>
        </p:spPr>
        <p:txBody>
          <a:bodyPr lIns="0" tIns="0" rIns="0" bIns="0" anchor="t">
            <a:normAutofit/>
          </a:bodyPr>
          <a:lstStyle>
            <a:lvl1pPr>
              <a:defRPr sz="340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93D5DD3F-FCDF-5945-9321-0FABA0771516}"/>
              </a:ext>
            </a:extLst>
          </p:cNvPr>
          <p:cNvSpPr/>
          <p:nvPr userDrawn="1"/>
        </p:nvSpPr>
        <p:spPr>
          <a:xfrm rot="16200000">
            <a:off x="5467350" y="2065417"/>
            <a:ext cx="1270000" cy="12701"/>
          </a:xfrm>
          <a:prstGeom prst="rect">
            <a:avLst/>
          </a:prstGeom>
          <a:solidFill>
            <a:srgbClr val="24282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0433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0433FF"/>
              </a:solidFill>
              <a:latin typeface="Helvetica Light"/>
              <a:sym typeface="Helvetica Light"/>
            </a:endParaRP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B8877488-477F-0041-88BE-F780F1C66A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16172" y="0"/>
            <a:ext cx="4994803" cy="6858000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163662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noProof="0" smtClean="0"/>
              <a:t>2/26/2025</a:t>
            </a:fld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C4D9A4-C8E3-4644-9D63-86142FA59A02}"/>
              </a:ext>
            </a:extLst>
          </p:cNvPr>
          <p:cNvSpPr/>
          <p:nvPr userDrawn="1"/>
        </p:nvSpPr>
        <p:spPr>
          <a:xfrm>
            <a:off x="952500" y="952500"/>
            <a:ext cx="10287000" cy="4953000"/>
          </a:xfrm>
          <a:prstGeom prst="rect">
            <a:avLst/>
          </a:prstGeom>
          <a:solidFill>
            <a:schemeClr val="tx2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047AEE3-4D24-FE4F-BC8C-1050F33A970F}"/>
              </a:ext>
            </a:extLst>
          </p:cNvPr>
          <p:cNvSpPr/>
          <p:nvPr userDrawn="1"/>
        </p:nvSpPr>
        <p:spPr>
          <a:xfrm rot="16200000">
            <a:off x="5454650" y="1104900"/>
            <a:ext cx="1270000" cy="12700"/>
          </a:xfrm>
          <a:prstGeom prst="rect">
            <a:avLst/>
          </a:prstGeom>
          <a:solidFill>
            <a:srgbClr val="24282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0433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0433FF"/>
              </a:solidFill>
              <a:latin typeface="Helvetica Light"/>
              <a:sym typeface="Helvetica Ligh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45386C-7F1B-4D47-959C-DE1A73B407E7}"/>
              </a:ext>
            </a:extLst>
          </p:cNvPr>
          <p:cNvSpPr/>
          <p:nvPr userDrawn="1"/>
        </p:nvSpPr>
        <p:spPr>
          <a:xfrm>
            <a:off x="431799" y="1365249"/>
            <a:ext cx="1016001" cy="381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B1C5AC5-B8E6-EC4F-8CB9-43E091C422EF}"/>
              </a:ext>
            </a:extLst>
          </p:cNvPr>
          <p:cNvSpPr/>
          <p:nvPr userDrawn="1"/>
        </p:nvSpPr>
        <p:spPr>
          <a:xfrm>
            <a:off x="10731499" y="5065379"/>
            <a:ext cx="1016001" cy="381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3ACFFFD-2D44-B943-8B58-CC9B7641E7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3567" y="3019274"/>
            <a:ext cx="9304867" cy="1613201"/>
          </a:xfrm>
        </p:spPr>
        <p:txBody>
          <a:bodyPr lIns="0" tIns="0" rIns="0" bIns="0" anchor="ctr">
            <a:normAutofit/>
          </a:bodyPr>
          <a:lstStyle>
            <a:lvl1pPr algn="ctr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8E96E8CE-45C0-D643-B7F3-08C20CF5F76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437501" y="2348318"/>
            <a:ext cx="3316999" cy="269370"/>
          </a:xfrm>
        </p:spPr>
        <p:txBody>
          <a:bodyPr>
            <a:noAutofit/>
          </a:bodyPr>
          <a:lstStyle>
            <a:lvl1pPr marL="0" indent="0" algn="ctr">
              <a:lnSpc>
                <a:spcPct val="80000"/>
              </a:lnSpc>
              <a:buNone/>
              <a:defRPr sz="1600" cap="all" baseline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0832844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arrow Content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EEDEA7C-D9D3-5E4A-A0E6-B7A0ED5E0F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81599" y="0"/>
            <a:ext cx="7010400" cy="6858000"/>
          </a:xfrm>
          <a:custGeom>
            <a:avLst/>
            <a:gdLst>
              <a:gd name="connsiteX0" fmla="*/ 0 w 7010400"/>
              <a:gd name="connsiteY0" fmla="*/ 0 h 6858000"/>
              <a:gd name="connsiteX1" fmla="*/ 7010400 w 7010400"/>
              <a:gd name="connsiteY1" fmla="*/ 0 h 6858000"/>
              <a:gd name="connsiteX2" fmla="*/ 7010400 w 7010400"/>
              <a:gd name="connsiteY2" fmla="*/ 6858000 h 6858000"/>
              <a:gd name="connsiteX3" fmla="*/ 0 w 7010400"/>
              <a:gd name="connsiteY3" fmla="*/ 6858000 h 6858000"/>
              <a:gd name="connsiteX4" fmla="*/ 0 w 7010400"/>
              <a:gd name="connsiteY4" fmla="*/ 2620396 h 6858000"/>
              <a:gd name="connsiteX5" fmla="*/ 508001 w 7010400"/>
              <a:gd name="connsiteY5" fmla="*/ 2620396 h 6858000"/>
              <a:gd name="connsiteX6" fmla="*/ 508001 w 7010400"/>
              <a:gd name="connsiteY6" fmla="*/ 2239395 h 6858000"/>
              <a:gd name="connsiteX7" fmla="*/ 0 w 7010400"/>
              <a:gd name="connsiteY7" fmla="*/ 223939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10400" h="6858000">
                <a:moveTo>
                  <a:pt x="0" y="0"/>
                </a:moveTo>
                <a:lnTo>
                  <a:pt x="7010400" y="0"/>
                </a:lnTo>
                <a:lnTo>
                  <a:pt x="7010400" y="6858000"/>
                </a:lnTo>
                <a:lnTo>
                  <a:pt x="0" y="6858000"/>
                </a:lnTo>
                <a:lnTo>
                  <a:pt x="0" y="2620396"/>
                </a:lnTo>
                <a:lnTo>
                  <a:pt x="508001" y="2620396"/>
                </a:lnTo>
                <a:lnTo>
                  <a:pt x="508001" y="2239395"/>
                </a:lnTo>
                <a:lnTo>
                  <a:pt x="0" y="223939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F358276-528D-1F4E-804A-4F9FDE93568A}"/>
              </a:ext>
            </a:extLst>
          </p:cNvPr>
          <p:cNvSpPr/>
          <p:nvPr userDrawn="1"/>
        </p:nvSpPr>
        <p:spPr>
          <a:xfrm>
            <a:off x="4673599" y="2239395"/>
            <a:ext cx="1016001" cy="381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6817E56-9BF4-B245-9536-10F7E163D7D9}"/>
              </a:ext>
            </a:extLst>
          </p:cNvPr>
          <p:cNvSpPr/>
          <p:nvPr userDrawn="1"/>
        </p:nvSpPr>
        <p:spPr>
          <a:xfrm>
            <a:off x="581192" y="875830"/>
            <a:ext cx="2540001" cy="25400"/>
          </a:xfrm>
          <a:prstGeom prst="rect">
            <a:avLst/>
          </a:prstGeom>
          <a:solidFill>
            <a:srgbClr val="24282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 spc="0">
                <a:solidFill>
                  <a:srgbClr val="0433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2F758DC-4792-1D42-83A8-ED4E6CD5F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720636"/>
            <a:ext cx="3863216" cy="3634317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859246A-0674-144E-84D6-29D5891C06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192" y="1304660"/>
            <a:ext cx="3863216" cy="1415976"/>
          </a:xfrm>
        </p:spPr>
        <p:txBody>
          <a:bodyPr anchor="t">
            <a:normAutofit/>
          </a:bodyPr>
          <a:lstStyle>
            <a:lvl1pPr>
              <a:defRPr sz="3400"/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255469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60596E6-4DE9-A746-9D39-94401D2B4645}"/>
              </a:ext>
            </a:extLst>
          </p:cNvPr>
          <p:cNvSpPr/>
          <p:nvPr userDrawn="1"/>
        </p:nvSpPr>
        <p:spPr>
          <a:xfrm rot="16200000">
            <a:off x="3619401" y="2402840"/>
            <a:ext cx="1270001" cy="12701"/>
          </a:xfrm>
          <a:prstGeom prst="rect">
            <a:avLst/>
          </a:prstGeom>
          <a:solidFill>
            <a:srgbClr val="11111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4FCD294-AF1C-5E4C-A4DA-80CFCFA430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3138" y="917461"/>
            <a:ext cx="2205037" cy="4989627"/>
          </a:xfrm>
          <a:custGeom>
            <a:avLst/>
            <a:gdLst>
              <a:gd name="connsiteX0" fmla="*/ 0 w 2205037"/>
              <a:gd name="connsiteY0" fmla="*/ 0 h 4989627"/>
              <a:gd name="connsiteX1" fmla="*/ 2205037 w 2205037"/>
              <a:gd name="connsiteY1" fmla="*/ 0 h 4989627"/>
              <a:gd name="connsiteX2" fmla="*/ 2205037 w 2205037"/>
              <a:gd name="connsiteY2" fmla="*/ 4989627 h 4989627"/>
              <a:gd name="connsiteX3" fmla="*/ 0 w 2205037"/>
              <a:gd name="connsiteY3" fmla="*/ 4989627 h 4989627"/>
              <a:gd name="connsiteX4" fmla="*/ 0 w 2205037"/>
              <a:gd name="connsiteY4" fmla="*/ 4286290 h 4989627"/>
              <a:gd name="connsiteX5" fmla="*/ 809319 w 2205037"/>
              <a:gd name="connsiteY5" fmla="*/ 4286290 h 4989627"/>
              <a:gd name="connsiteX6" fmla="*/ 809319 w 2205037"/>
              <a:gd name="connsiteY6" fmla="*/ 3905289 h 4989627"/>
              <a:gd name="connsiteX7" fmla="*/ 0 w 2205037"/>
              <a:gd name="connsiteY7" fmla="*/ 3905289 h 498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05037" h="4989627">
                <a:moveTo>
                  <a:pt x="0" y="0"/>
                </a:moveTo>
                <a:lnTo>
                  <a:pt x="2205037" y="0"/>
                </a:lnTo>
                <a:lnTo>
                  <a:pt x="2205037" y="4989627"/>
                </a:lnTo>
                <a:lnTo>
                  <a:pt x="0" y="4989627"/>
                </a:lnTo>
                <a:lnTo>
                  <a:pt x="0" y="4286290"/>
                </a:lnTo>
                <a:lnTo>
                  <a:pt x="809319" y="4286290"/>
                </a:lnTo>
                <a:lnTo>
                  <a:pt x="809319" y="3905289"/>
                </a:lnTo>
                <a:lnTo>
                  <a:pt x="0" y="3905289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8EDF2123-85B2-F547-8D7A-F0273E1E9E85}"/>
              </a:ext>
            </a:extLst>
          </p:cNvPr>
          <p:cNvSpPr/>
          <p:nvPr userDrawn="1"/>
        </p:nvSpPr>
        <p:spPr>
          <a:xfrm>
            <a:off x="764089" y="4824593"/>
            <a:ext cx="1016001" cy="381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1DA15C9-6722-0B47-897A-7DC9AED35B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8051" y="2945525"/>
            <a:ext cx="2945494" cy="1613201"/>
          </a:xfrm>
        </p:spPr>
        <p:txBody>
          <a:bodyPr lIns="0" tIns="0" rIns="0" bIns="0" anchor="b">
            <a:normAutofit/>
          </a:bodyPr>
          <a:lstStyle>
            <a:lvl1pPr>
              <a:defRPr sz="3400"/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5FFB748F-E999-9A4B-B9D8-B6E1C2AE01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05688" y="2005013"/>
            <a:ext cx="4510087" cy="40274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639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1956391"/>
            <a:ext cx="3863216" cy="446752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3599" y="1956391"/>
            <a:ext cx="6917210" cy="446752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75DA6C-B626-714A-8BBC-6FDDB6BE4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40156"/>
          </a:xfrm>
        </p:spPr>
        <p:txBody>
          <a:bodyPr anchor="t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2B4D55A-70C8-E04B-B7E3-3355A1131891}"/>
              </a:ext>
            </a:extLst>
          </p:cNvPr>
          <p:cNvSpPr/>
          <p:nvPr userDrawn="1"/>
        </p:nvSpPr>
        <p:spPr>
          <a:xfrm>
            <a:off x="0" y="806538"/>
            <a:ext cx="453601" cy="36304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3016606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81192" y="2847885"/>
            <a:ext cx="4757482" cy="557784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3523046"/>
            <a:ext cx="4757479" cy="2131499"/>
          </a:xfrm>
        </p:spPr>
        <p:txBody>
          <a:bodyPr anchor="t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04002" y="2847886"/>
            <a:ext cx="4757483" cy="553373"/>
          </a:xfrm>
        </p:spPr>
        <p:txBody>
          <a:bodyPr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8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Title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4001" y="3523046"/>
            <a:ext cx="4757484" cy="2131499"/>
          </a:xfrm>
        </p:spPr>
        <p:txBody>
          <a:bodyPr anchor="t">
            <a:norm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3CA278B-C101-7F4E-B11A-7B91B0C8E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40156"/>
          </a:xfrm>
        </p:spPr>
        <p:txBody>
          <a:bodyPr anchor="t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E5F6035-AACE-6847-8AF4-EB3C4D79EE95}"/>
              </a:ext>
            </a:extLst>
          </p:cNvPr>
          <p:cNvSpPr/>
          <p:nvPr userDrawn="1"/>
        </p:nvSpPr>
        <p:spPr>
          <a:xfrm>
            <a:off x="0" y="806538"/>
            <a:ext cx="453601" cy="36304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D914FC0-3771-6041-9E7C-1C624C85A803}"/>
              </a:ext>
            </a:extLst>
          </p:cNvPr>
          <p:cNvGrpSpPr/>
          <p:nvPr userDrawn="1"/>
        </p:nvGrpSpPr>
        <p:grpSpPr>
          <a:xfrm>
            <a:off x="5463336" y="2250891"/>
            <a:ext cx="1016001" cy="3839220"/>
            <a:chOff x="5510085" y="2250891"/>
            <a:chExt cx="1016001" cy="383922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AED3128-974C-7F4B-BF36-A3836D1725F6}"/>
                </a:ext>
              </a:extLst>
            </p:cNvPr>
            <p:cNvCxnSpPr/>
            <p:nvPr/>
          </p:nvCxnSpPr>
          <p:spPr>
            <a:xfrm>
              <a:off x="6018085" y="2340176"/>
              <a:ext cx="0" cy="37499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2D2224CB-5DFF-3D4B-816B-1A44228A23EE}"/>
                </a:ext>
              </a:extLst>
            </p:cNvPr>
            <p:cNvSpPr/>
            <p:nvPr/>
          </p:nvSpPr>
          <p:spPr>
            <a:xfrm>
              <a:off x="5510085" y="2250891"/>
              <a:ext cx="1016001" cy="381001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25400" tIns="25400" rIns="25400" bIns="25400" anchor="ctr"/>
            <a:lstStyle/>
            <a:p>
              <a:pPr algn="ctr" defTabSz="412750" hangingPunct="0">
                <a:defRPr sz="3200" spc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lang="en-US" sz="1600" kern="0" noProof="0">
                  <a:solidFill>
                    <a:srgbClr val="FFFFFF"/>
                  </a:solidFill>
                  <a:latin typeface="Helvetica Light"/>
                  <a:sym typeface="Helvetica Light"/>
                </a:rPr>
                <a:t>VS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82551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2F4516B-8A37-894B-82AE-60204E67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40156"/>
          </a:xfrm>
        </p:spPr>
        <p:txBody>
          <a:bodyPr anchor="t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C16CE43-CB3C-7544-B05B-0A9F706D6FD8}"/>
              </a:ext>
            </a:extLst>
          </p:cNvPr>
          <p:cNvSpPr/>
          <p:nvPr userDrawn="1"/>
        </p:nvSpPr>
        <p:spPr>
          <a:xfrm>
            <a:off x="0" y="806538"/>
            <a:ext cx="453601" cy="363044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 dirty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701036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noProof="0" smtClean="0"/>
              <a:t>2/26/2025</a:t>
            </a:fld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640E59D-783A-C149-B212-716E0C4FE00D}"/>
              </a:ext>
            </a:extLst>
          </p:cNvPr>
          <p:cNvSpPr/>
          <p:nvPr userDrawn="1"/>
        </p:nvSpPr>
        <p:spPr>
          <a:xfrm rot="5400000">
            <a:off x="1660484" y="1257302"/>
            <a:ext cx="2540001" cy="25400"/>
          </a:xfrm>
          <a:prstGeom prst="rect">
            <a:avLst/>
          </a:prstGeom>
          <a:solidFill>
            <a:srgbClr val="24282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>
              <a:defRPr sz="3200" spc="0">
                <a:solidFill>
                  <a:srgbClr val="0433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E9C988F-F5FE-BA4D-BDC5-02CCC5D68F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6100" y="520700"/>
            <a:ext cx="4743450" cy="5816600"/>
          </a:xfrm>
          <a:custGeom>
            <a:avLst/>
            <a:gdLst>
              <a:gd name="connsiteX0" fmla="*/ 0 w 4743450"/>
              <a:gd name="connsiteY0" fmla="*/ 0 h 5816600"/>
              <a:gd name="connsiteX1" fmla="*/ 4743450 w 4743450"/>
              <a:gd name="connsiteY1" fmla="*/ 0 h 5816600"/>
              <a:gd name="connsiteX2" fmla="*/ 4743450 w 4743450"/>
              <a:gd name="connsiteY2" fmla="*/ 285838 h 5816600"/>
              <a:gd name="connsiteX3" fmla="*/ 4406308 w 4743450"/>
              <a:gd name="connsiteY3" fmla="*/ 285838 h 5816600"/>
              <a:gd name="connsiteX4" fmla="*/ 4406308 w 4743450"/>
              <a:gd name="connsiteY4" fmla="*/ 666839 h 5816600"/>
              <a:gd name="connsiteX5" fmla="*/ 4743450 w 4743450"/>
              <a:gd name="connsiteY5" fmla="*/ 666839 h 5816600"/>
              <a:gd name="connsiteX6" fmla="*/ 4743450 w 4743450"/>
              <a:gd name="connsiteY6" fmla="*/ 5816600 h 5816600"/>
              <a:gd name="connsiteX7" fmla="*/ 0 w 4743450"/>
              <a:gd name="connsiteY7" fmla="*/ 5816600 h 581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3450" h="5816600">
                <a:moveTo>
                  <a:pt x="0" y="0"/>
                </a:moveTo>
                <a:lnTo>
                  <a:pt x="4743450" y="0"/>
                </a:lnTo>
                <a:lnTo>
                  <a:pt x="4743450" y="285838"/>
                </a:lnTo>
                <a:lnTo>
                  <a:pt x="4406308" y="285838"/>
                </a:lnTo>
                <a:lnTo>
                  <a:pt x="4406308" y="666839"/>
                </a:lnTo>
                <a:lnTo>
                  <a:pt x="4743450" y="666839"/>
                </a:lnTo>
                <a:lnTo>
                  <a:pt x="4743450" y="5816600"/>
                </a:lnTo>
                <a:lnTo>
                  <a:pt x="0" y="58166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E3F3D93-DB12-4C41-A747-8781702C1204}"/>
              </a:ext>
            </a:extLst>
          </p:cNvPr>
          <p:cNvSpPr/>
          <p:nvPr userDrawn="1"/>
        </p:nvSpPr>
        <p:spPr>
          <a:xfrm>
            <a:off x="4952408" y="806538"/>
            <a:ext cx="1016001" cy="381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600" kern="0" noProof="0">
              <a:solidFill>
                <a:srgbClr val="FFFFFF"/>
              </a:solidFill>
              <a:latin typeface="Helvetica Light"/>
              <a:sym typeface="Helvetica Light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6C315ED-F22B-A649-80D5-44A63CE740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2156"/>
            <a:ext cx="6096000" cy="740156"/>
          </a:xfrm>
        </p:spPr>
        <p:txBody>
          <a:bodyPr anchor="t">
            <a:normAutofit/>
          </a:bodyPr>
          <a:lstStyle>
            <a:lvl1pPr>
              <a:defRPr sz="3400"/>
            </a:lvl1pPr>
          </a:lstStyle>
          <a:p>
            <a:r>
              <a:rPr lang="en-US" noProof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7320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D291B17-9318-49DB-B28B-6E5994AE9581}" type="datetime1">
              <a:rPr lang="en-US" smtClean="0"/>
              <a:t>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2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6" r:id="rId21"/>
    <p:sldLayoutId id="2147483677" r:id="rId22"/>
    <p:sldLayoutId id="2147483684" r:id="rId23"/>
    <p:sldLayoutId id="2147483678" r:id="rId24"/>
    <p:sldLayoutId id="2147483689" r:id="rId25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086" y="-77002"/>
            <a:ext cx="12301086" cy="70274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BECB34-6337-DE4D-8FD3-A3A0F5766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54770"/>
            <a:ext cx="8534401" cy="2281600"/>
          </a:xfrm>
        </p:spPr>
        <p:txBody>
          <a:bodyPr/>
          <a:lstStyle/>
          <a:p>
            <a:r>
              <a:rPr lang="en-US" b="1" dirty="0"/>
              <a:t>Azure Cloud Data Engineering for BFSI: Scalable ETL and Real-Time Analytics Solution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27EA9-DD4F-6245-9D17-591DCE0A8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>
                <a:solidFill>
                  <a:schemeClr val="tx1"/>
                </a:solidFill>
              </a:rPr>
              <a:t>Prateek Baisla (127232)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Date – 27/02/2025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32" name="Picture 8" descr="https://d9jmtjs5r4cgq.cloudfront.net/images/branding/greatlearning-logo-ligh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678" y="164822"/>
            <a:ext cx="1876133" cy="57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47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D2F327-0A45-7949-9B67-5AD38677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6632" y="4651968"/>
            <a:ext cx="4295438" cy="99710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Agenda &amp; Outline </a:t>
            </a:r>
            <a:r>
              <a:rPr lang="en-US" sz="2800" b="1" dirty="0"/>
              <a:t>of the key sections:</a:t>
            </a:r>
            <a:endParaRPr lang="en-US" sz="2800" b="1" dirty="0"/>
          </a:p>
        </p:txBody>
      </p:sp>
      <p:sp>
        <p:nvSpPr>
          <p:cNvPr id="13" name="Rectangle 9"/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616172" y="612845"/>
            <a:ext cx="398705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&amp; Problem Statement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Medallion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Architecture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Architecture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Data Sources &amp;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Ingestion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Storage &amp; Management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 &amp; Transformation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 &amp; Data Analysis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&amp; Business Impact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&amp; Future Work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&amp; Lessons Learned</a:t>
            </a:r>
          </a:p>
        </p:txBody>
      </p:sp>
      <p:pic>
        <p:nvPicPr>
          <p:cNvPr id="2059" name="Picture 11" descr="Microsoft Azure Cloud Logo Png Image Microsoft Azure Cloud Icon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13" y="851872"/>
            <a:ext cx="5102960" cy="2870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10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21" y="-143149"/>
            <a:ext cx="10122850" cy="1507067"/>
          </a:xfrm>
        </p:spPr>
        <p:txBody>
          <a:bodyPr/>
          <a:lstStyle/>
          <a:p>
            <a:r>
              <a:rPr lang="en-US" b="1" dirty="0"/>
              <a:t>Introduction &amp; Problem Statement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9121" y="1051772"/>
            <a:ext cx="11197506" cy="531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Introduction:</a:t>
            </a:r>
            <a:endParaRPr 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Implement an ETL pipeline using Azure services and </a:t>
            </a:r>
            <a:r>
              <a:rPr lang="en-US" sz="1600" dirty="0" smtClean="0">
                <a:solidFill>
                  <a:schemeClr val="tx1"/>
                </a:solidFill>
                <a:cs typeface="Arial" panose="020B0604020202020204" pitchFamily="34" charset="0"/>
              </a:rPr>
              <a:t>Data bricks </a:t>
            </a:r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to process, analyze, and visualize large financial datasets.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Problem Statement:</a:t>
            </a:r>
            <a:endParaRPr 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A fictional financial institution processes millions of transactions daily.</a:t>
            </a:r>
          </a:p>
          <a:p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Need for data analysis for:</a:t>
            </a:r>
          </a:p>
          <a:p>
            <a:pPr lvl="1"/>
            <a:r>
              <a:rPr lang="en-US" sz="1400" dirty="0">
                <a:solidFill>
                  <a:schemeClr val="tx1"/>
                </a:solidFill>
                <a:cs typeface="Arial" panose="020B0604020202020204" pitchFamily="34" charset="0"/>
              </a:rPr>
              <a:t>Fraud detection</a:t>
            </a:r>
          </a:p>
          <a:p>
            <a:pPr lvl="1"/>
            <a:r>
              <a:rPr lang="en-US" sz="1400" dirty="0">
                <a:solidFill>
                  <a:schemeClr val="tx1"/>
                </a:solidFill>
                <a:cs typeface="Arial" panose="020B0604020202020204" pitchFamily="34" charset="0"/>
              </a:rPr>
              <a:t>Risk assessment</a:t>
            </a:r>
          </a:p>
          <a:p>
            <a:pPr lvl="1"/>
            <a:r>
              <a:rPr lang="en-US" sz="1400" dirty="0">
                <a:solidFill>
                  <a:schemeClr val="tx1"/>
                </a:solidFill>
                <a:cs typeface="Arial" panose="020B0604020202020204" pitchFamily="34" charset="0"/>
              </a:rPr>
              <a:t>Regulatory compliance</a:t>
            </a:r>
          </a:p>
          <a:p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Ingest raw transactional data, transform it, and load it into a secure database for reporting and analysis.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cs typeface="Arial" panose="020B0604020202020204" pitchFamily="34" charset="0"/>
              </a:rPr>
              <a:t>Objectives:</a:t>
            </a:r>
            <a:endParaRPr 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Ingest historical and real-time data from various sources.</a:t>
            </a:r>
          </a:p>
          <a:p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Clean, normalize, and transform the data for analysis.</a:t>
            </a:r>
          </a:p>
          <a:p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Securely store the transformed data in Azure SQL Database and Azure Cosmos DB.</a:t>
            </a:r>
          </a:p>
          <a:p>
            <a:r>
              <a:rPr lang="en-US" sz="1600" dirty="0">
                <a:solidFill>
                  <a:schemeClr val="tx1"/>
                </a:solidFill>
                <a:cs typeface="Arial" panose="020B0604020202020204" pitchFamily="34" charset="0"/>
              </a:rPr>
              <a:t>Process real-time transaction data to trigger alerts for suspicious activities.</a:t>
            </a:r>
          </a:p>
        </p:txBody>
      </p:sp>
    </p:spTree>
    <p:extLst>
      <p:ext uri="{BB962C8B-B14F-4D97-AF65-F5344CB8AC3E}">
        <p14:creationId xmlns:p14="http://schemas.microsoft.com/office/powerpoint/2010/main" val="214246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zure Databricks : Exploring Medallion Architectur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95"/>
          <a:stretch/>
        </p:blipFill>
        <p:spPr bwMode="auto">
          <a:xfrm>
            <a:off x="1542213" y="1687398"/>
            <a:ext cx="9085167" cy="372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962" y="573288"/>
            <a:ext cx="5777093" cy="1406341"/>
          </a:xfrm>
        </p:spPr>
        <p:txBody>
          <a:bodyPr>
            <a:normAutofit/>
          </a:bodyPr>
          <a:lstStyle/>
          <a:p>
            <a:r>
              <a:rPr lang="en-US" sz="2400" b="1" dirty="0"/>
              <a:t>Medallion </a:t>
            </a:r>
            <a:r>
              <a:rPr lang="en-US" sz="2400" b="1" dirty="0" smtClean="0"/>
              <a:t>Architecture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3509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3000">
              <a:schemeClr val="bg1">
                <a:lumMod val="95000"/>
                <a:lumOff val="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32" y="1203158"/>
            <a:ext cx="11069710" cy="5005535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28" y="409658"/>
            <a:ext cx="5777093" cy="1406341"/>
          </a:xfrm>
        </p:spPr>
        <p:txBody>
          <a:bodyPr>
            <a:normAutofit/>
          </a:bodyPr>
          <a:lstStyle/>
          <a:p>
            <a:r>
              <a:rPr lang="en-US" sz="2400" b="1" dirty="0"/>
              <a:t>Pipeline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9308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21" y="-143149"/>
            <a:ext cx="10122850" cy="1507067"/>
          </a:xfrm>
        </p:spPr>
        <p:txBody>
          <a:bodyPr/>
          <a:lstStyle/>
          <a:p>
            <a:r>
              <a:rPr lang="en-US" b="1" dirty="0"/>
              <a:t>Data Sources &amp; Ingestion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9121" y="1610386"/>
            <a:ext cx="11197506" cy="419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Sources: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Transactional Data:</a:t>
            </a:r>
            <a:r>
              <a:rPr lang="en-US" sz="1800" dirty="0">
                <a:solidFill>
                  <a:schemeClr val="tx1"/>
                </a:solidFill>
              </a:rPr>
              <a:t> Historical batch processing and real-time streaming analytics.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Customer Data:</a:t>
            </a:r>
            <a:r>
              <a:rPr lang="en-US" sz="1800" dirty="0">
                <a:solidFill>
                  <a:schemeClr val="tx1"/>
                </a:solidFill>
              </a:rPr>
              <a:t> For customer segmentation and analysis.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Merchant Data:</a:t>
            </a:r>
            <a:r>
              <a:rPr lang="en-US" sz="1800" dirty="0">
                <a:solidFill>
                  <a:schemeClr val="tx1"/>
                </a:solidFill>
              </a:rPr>
              <a:t> For merchant-related analytics and risk assessment.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Fraud Detection Data:</a:t>
            </a:r>
            <a:r>
              <a:rPr lang="en-US" sz="1800" dirty="0">
                <a:solidFill>
                  <a:schemeClr val="tx1"/>
                </a:solidFill>
              </a:rPr>
              <a:t> For identifying suspicious activity and enhancing security.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Regulatory Compliance Data:</a:t>
            </a:r>
            <a:r>
              <a:rPr lang="en-US" sz="1800" dirty="0">
                <a:solidFill>
                  <a:schemeClr val="tx1"/>
                </a:solidFill>
              </a:rPr>
              <a:t> For ensuring adherence to financial regulations.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Ingestion Methods: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Azure Data Factory:</a:t>
            </a:r>
            <a:r>
              <a:rPr lang="en-US" sz="1800" dirty="0">
                <a:solidFill>
                  <a:schemeClr val="tx1"/>
                </a:solidFill>
              </a:rPr>
              <a:t> Dynamically ingest historical data from GitHub API and HTTP link directly into Azure Blob Storage.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Azure Event Hub:</a:t>
            </a:r>
            <a:r>
              <a:rPr lang="en-US" sz="1800" dirty="0">
                <a:solidFill>
                  <a:schemeClr val="tx1"/>
                </a:solidFill>
              </a:rPr>
              <a:t> Real-time data streams, created using a Python producer to send data into Event Hub, which is then integrated with </a:t>
            </a:r>
            <a:r>
              <a:rPr lang="en-US" sz="1800" dirty="0" smtClean="0">
                <a:solidFill>
                  <a:schemeClr val="tx1"/>
                </a:solidFill>
              </a:rPr>
              <a:t>Data bricks.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05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21" y="-143149"/>
            <a:ext cx="10122850" cy="1507067"/>
          </a:xfrm>
        </p:spPr>
        <p:txBody>
          <a:bodyPr/>
          <a:lstStyle/>
          <a:p>
            <a:r>
              <a:rPr lang="en-US" b="1" dirty="0"/>
              <a:t>Data Storage &amp; Management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9121" y="2137680"/>
            <a:ext cx="6048188" cy="296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 smtClean="0">
                <a:solidFill>
                  <a:schemeClr val="tx1"/>
                </a:solidFill>
              </a:rPr>
              <a:t>Data </a:t>
            </a:r>
            <a:r>
              <a:rPr lang="en-US" sz="1800" b="1" dirty="0">
                <a:solidFill>
                  <a:schemeClr val="tx1"/>
                </a:solidFill>
              </a:rPr>
              <a:t>Storage &amp; Management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Azure SQL Database: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For structured data storage and querying.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Azure Cosmos DB: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For scalable and flexible NoSQL data storage.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Optimization:</a:t>
            </a: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Proper partitioning and query performance optimization.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477" y="1925052"/>
            <a:ext cx="5277901" cy="341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71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21" y="-143149"/>
            <a:ext cx="10122850" cy="1507067"/>
          </a:xfrm>
        </p:spPr>
        <p:txBody>
          <a:bodyPr/>
          <a:lstStyle/>
          <a:p>
            <a:r>
              <a:rPr lang="en-US" b="1" dirty="0"/>
              <a:t>Data Processing &amp; Transformation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9121" y="3156421"/>
            <a:ext cx="50375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Data Cleaning: Correct invalid data, standardize data types, fill missing values</a:t>
            </a:r>
            <a:r>
              <a:rPr lang="en-US" sz="1800" dirty="0" smtClean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5842535" y="1029903"/>
            <a:ext cx="6010802" cy="2944317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 rotWithShape="1">
          <a:blip r:embed="rId3"/>
          <a:srcRect l="23720" t="10800" r="21541"/>
          <a:stretch/>
        </p:blipFill>
        <p:spPr>
          <a:xfrm>
            <a:off x="7115388" y="4235115"/>
            <a:ext cx="3465095" cy="236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21" y="-143149"/>
            <a:ext cx="10122850" cy="1507067"/>
          </a:xfrm>
        </p:spPr>
        <p:txBody>
          <a:bodyPr/>
          <a:lstStyle/>
          <a:p>
            <a:r>
              <a:rPr lang="en-US" b="1" dirty="0"/>
              <a:t>Key Insights &amp; Data Analysis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735" y="2188076"/>
            <a:ext cx="3300380" cy="28074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6" y="2329314"/>
            <a:ext cx="3989409" cy="23678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784" y="2188076"/>
            <a:ext cx="4065451" cy="2807436"/>
          </a:xfrm>
          <a:prstGeom prst="rect">
            <a:avLst/>
          </a:prstGeom>
        </p:spPr>
      </p:pic>
      <p:sp>
        <p:nvSpPr>
          <p:cNvPr id="1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15253" y="1818744"/>
            <a:ext cx="50375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Transaction Volume Over Time</a:t>
            </a:r>
          </a:p>
        </p:txBody>
      </p:sp>
      <p:sp>
        <p:nvSpPr>
          <p:cNvPr id="16" name="Rectangle 1"/>
          <p:cNvSpPr txBox="1">
            <a:spLocks noChangeArrowheads="1"/>
          </p:cNvSpPr>
          <p:nvPr/>
        </p:nvSpPr>
        <p:spPr bwMode="auto">
          <a:xfrm>
            <a:off x="4891300" y="1818744"/>
            <a:ext cx="50375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Fraud Detection Patterns</a:t>
            </a:r>
          </a:p>
        </p:txBody>
      </p:sp>
      <p:sp>
        <p:nvSpPr>
          <p:cNvPr id="17" name="Rectangle 1"/>
          <p:cNvSpPr txBox="1">
            <a:spLocks noChangeArrowheads="1"/>
          </p:cNvSpPr>
          <p:nvPr/>
        </p:nvSpPr>
        <p:spPr bwMode="auto">
          <a:xfrm>
            <a:off x="9480049" y="1818744"/>
            <a:ext cx="50375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Fraud Score</a:t>
            </a:r>
          </a:p>
        </p:txBody>
      </p:sp>
    </p:spTree>
    <p:extLst>
      <p:ext uri="{BB962C8B-B14F-4D97-AF65-F5344CB8AC3E}">
        <p14:creationId xmlns:p14="http://schemas.microsoft.com/office/powerpoint/2010/main" val="175970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351" y="-29058"/>
            <a:ext cx="12374702" cy="691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3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21" y="-143149"/>
            <a:ext cx="10122850" cy="1507067"/>
          </a:xfrm>
        </p:spPr>
        <p:txBody>
          <a:bodyPr/>
          <a:lstStyle/>
          <a:p>
            <a:r>
              <a:rPr lang="en-US" b="1" dirty="0"/>
              <a:t>Results &amp; Business Impact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9121" y="2085901"/>
            <a:ext cx="11197506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 smtClean="0">
                <a:solidFill>
                  <a:schemeClr val="tx1"/>
                </a:solidFill>
              </a:rPr>
              <a:t>Main </a:t>
            </a:r>
            <a:r>
              <a:rPr lang="en-US" sz="1800" b="1" dirty="0">
                <a:solidFill>
                  <a:schemeClr val="tx1"/>
                </a:solidFill>
              </a:rPr>
              <a:t>Outcomes: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Enhanced Fraud Detection:</a:t>
            </a:r>
            <a:r>
              <a:rPr lang="en-US" sz="1800" dirty="0">
                <a:solidFill>
                  <a:schemeClr val="tx1"/>
                </a:solidFill>
              </a:rPr>
              <a:t> Early identification of fraudulent transactions reduced financial losses.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Improved Risk Assessment:</a:t>
            </a:r>
            <a:r>
              <a:rPr lang="en-US" sz="1800" dirty="0">
                <a:solidFill>
                  <a:schemeClr val="tx1"/>
                </a:solidFill>
              </a:rPr>
              <a:t> Better assessment of customer and merchant risk profiles.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Regulatory Compliance:</a:t>
            </a:r>
            <a:r>
              <a:rPr lang="en-US" sz="1800" dirty="0">
                <a:solidFill>
                  <a:schemeClr val="tx1"/>
                </a:solidFill>
              </a:rPr>
              <a:t> Ensured adherence to financial regulations. </a:t>
            </a:r>
            <a:r>
              <a:rPr lang="en-US" sz="1800" b="1" dirty="0">
                <a:solidFill>
                  <a:schemeClr val="tx1"/>
                </a:solidFill>
              </a:rPr>
              <a:t>Relevance to Business Case: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Fraud detection and risk assessment capabilities directly impact the financial institution's ability to manage risks and maintain regulatory compliance, leading to increased trust and reliability.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39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21" y="-143149"/>
            <a:ext cx="10122850" cy="1507067"/>
          </a:xfrm>
        </p:spPr>
        <p:txBody>
          <a:bodyPr/>
          <a:lstStyle/>
          <a:p>
            <a:r>
              <a:rPr lang="en-US" b="1" dirty="0"/>
              <a:t>Scalability &amp; Future Work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9121" y="1947401"/>
            <a:ext cx="11197506" cy="3524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Scalability: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Handling Larger Datasets:</a:t>
            </a:r>
            <a:r>
              <a:rPr lang="en-US" sz="1800" dirty="0">
                <a:solidFill>
                  <a:schemeClr val="tx1"/>
                </a:solidFill>
              </a:rPr>
              <a:t> Implementing distributed computing and storage solutions to manage growing data volumes.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Optimization:</a:t>
            </a:r>
            <a:r>
              <a:rPr lang="en-US" sz="1800" dirty="0">
                <a:solidFill>
                  <a:schemeClr val="tx1"/>
                </a:solidFill>
              </a:rPr>
              <a:t> Continuous monitoring and tuning of ETL pipeline performance. </a:t>
            </a:r>
            <a:r>
              <a:rPr lang="en-US" sz="1800" b="1" dirty="0">
                <a:solidFill>
                  <a:schemeClr val="tx1"/>
                </a:solidFill>
              </a:rPr>
              <a:t>Future Enhancements: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Advanced Analytics:</a:t>
            </a:r>
            <a:r>
              <a:rPr lang="en-US" sz="1800" dirty="0">
                <a:solidFill>
                  <a:schemeClr val="tx1"/>
                </a:solidFill>
              </a:rPr>
              <a:t> Integrating more sophisticated machine learning models for predictive analytics (e.g., customer churn prediction).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Real-Time Data Processing:</a:t>
            </a:r>
            <a:r>
              <a:rPr lang="en-US" sz="1800" dirty="0">
                <a:solidFill>
                  <a:schemeClr val="tx1"/>
                </a:solidFill>
              </a:rPr>
              <a:t> Expanding real-time capabilities to include more complex event processing and alerting mechanisms.</a:t>
            </a:r>
          </a:p>
          <a:p>
            <a:pPr marL="0" indent="0">
              <a:buNone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282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41F9-7D13-4D21-A010-46E29F1F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121" y="-143149"/>
            <a:ext cx="10122850" cy="1507067"/>
          </a:xfrm>
        </p:spPr>
        <p:txBody>
          <a:bodyPr/>
          <a:lstStyle/>
          <a:p>
            <a:r>
              <a:rPr lang="en-US" b="1" dirty="0"/>
              <a:t>Challenges &amp; Lessons Learned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9121" y="1881229"/>
            <a:ext cx="11197506" cy="365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Major Challenges: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Handling Large Volumes of Data:</a:t>
            </a:r>
            <a:r>
              <a:rPr lang="en-US" sz="1800" dirty="0">
                <a:solidFill>
                  <a:schemeClr val="tx1"/>
                </a:solidFill>
              </a:rPr>
              <a:t> Ensuring efficient data processing and storage.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Data Quality and Validation:</a:t>
            </a:r>
            <a:r>
              <a:rPr lang="en-US" sz="1800" dirty="0">
                <a:solidFill>
                  <a:schemeClr val="tx1"/>
                </a:solidFill>
              </a:rPr>
              <a:t> Maintaining high data quality throughout the ETL process.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Integration of Multiple Azure Services:</a:t>
            </a:r>
            <a:r>
              <a:rPr lang="en-US" sz="1800" dirty="0">
                <a:solidFill>
                  <a:schemeClr val="tx1"/>
                </a:solidFill>
              </a:rPr>
              <a:t> Seamlessly integrating various Azure services for optimal performance. </a:t>
            </a:r>
            <a:r>
              <a:rPr lang="en-US" sz="1800" b="1" dirty="0">
                <a:solidFill>
                  <a:schemeClr val="tx1"/>
                </a:solidFill>
              </a:rPr>
              <a:t>Lessons Learned: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Best Practices for Data Pipeline Design:</a:t>
            </a:r>
            <a:r>
              <a:rPr lang="en-US" sz="1800" dirty="0">
                <a:solidFill>
                  <a:schemeClr val="tx1"/>
                </a:solidFill>
              </a:rPr>
              <a:t> Importance of modular design for scalability and maintainability.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Data Validation:</a:t>
            </a:r>
            <a:r>
              <a:rPr lang="en-US" sz="1800" dirty="0">
                <a:solidFill>
                  <a:schemeClr val="tx1"/>
                </a:solidFill>
              </a:rPr>
              <a:t> Critical role of data validation and error handling to ensure data accuracy.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Leveraging Managed Services:</a:t>
            </a:r>
            <a:r>
              <a:rPr lang="en-US" sz="1800" dirty="0">
                <a:solidFill>
                  <a:schemeClr val="tx1"/>
                </a:solidFill>
              </a:rPr>
              <a:t> Benefits of using Azure's managed services to simplify infrastructure management and improve scalability.</a:t>
            </a:r>
          </a:p>
        </p:txBody>
      </p:sp>
    </p:spTree>
    <p:extLst>
      <p:ext uri="{BB962C8B-B14F-4D97-AF65-F5344CB8AC3E}">
        <p14:creationId xmlns:p14="http://schemas.microsoft.com/office/powerpoint/2010/main" val="277872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96C1EC2-BD9F-AF46-8E97-9C93189398A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65"/>
          <a:stretch/>
        </p:blipFill>
        <p:spPr>
          <a:xfrm>
            <a:off x="0" y="-144379"/>
            <a:ext cx="12192000" cy="7026442"/>
          </a:xfrm>
        </p:spPr>
      </p:pic>
      <p:graphicFrame>
        <p:nvGraphicFramePr>
          <p:cNvPr id="8" name="Content Placeholder 2" descr="SmartArt Placeholder - Contact List">
            <a:extLst>
              <a:ext uri="{FF2B5EF4-FFF2-40B4-BE49-F238E27FC236}">
                <a16:creationId xmlns:a16="http://schemas.microsoft.com/office/drawing/2014/main" id="{0188F943-8FD7-DF4B-B294-76C5998AC603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15434056"/>
              </p:ext>
            </p:extLst>
          </p:nvPr>
        </p:nvGraphicFramePr>
        <p:xfrm>
          <a:off x="365759" y="214714"/>
          <a:ext cx="8008219" cy="1671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9153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7cd6043-37cd-40c3-a3c6-82f8abfa504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5DD0770CC1BE4FB55694ADC73BF9CF" ma:contentTypeVersion="10" ma:contentTypeDescription="Create a new document." ma:contentTypeScope="" ma:versionID="36bd503d15df09ca548807476cfd61a2">
  <xsd:schema xmlns:xsd="http://www.w3.org/2001/XMLSchema" xmlns:xs="http://www.w3.org/2001/XMLSchema" xmlns:p="http://schemas.microsoft.com/office/2006/metadata/properties" xmlns:ns3="27cd6043-37cd-40c3-a3c6-82f8abfa504e" targetNamespace="http://schemas.microsoft.com/office/2006/metadata/properties" ma:root="true" ma:fieldsID="5770d4fba8e75a9ce9d5cb9cb4b3ad7d" ns3:_="">
    <xsd:import namespace="27cd6043-37cd-40c3-a3c6-82f8abfa504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d6043-37cd-40c3-a3c6-82f8abfa504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C43B05-D266-4257-98DE-FF9D8CEDAE76}">
  <ds:schemaRefs>
    <ds:schemaRef ds:uri="27cd6043-37cd-40c3-a3c6-82f8abfa504e"/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435A0B9-5F49-415F-9BEE-591FDACE98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063AB5-0DF8-40FD-9C9C-8C786F0FC6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cd6043-37cd-40c3-a3c6-82f8abfa50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630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Century Gothic</vt:lpstr>
      <vt:lpstr>Helvetica Light</vt:lpstr>
      <vt:lpstr>Open Sans</vt:lpstr>
      <vt:lpstr>Wingdings</vt:lpstr>
      <vt:lpstr>Wingdings 2</vt:lpstr>
      <vt:lpstr>Wingdings 3</vt:lpstr>
      <vt:lpstr>Slice</vt:lpstr>
      <vt:lpstr>Azure Cloud Data Engineering for BFSI: Scalable ETL and Real-Time Analytics Solution</vt:lpstr>
      <vt:lpstr>Agenda &amp; Outline of the key sections:</vt:lpstr>
      <vt:lpstr>Introduction &amp; Problem Statement</vt:lpstr>
      <vt:lpstr>Medallion Architecture</vt:lpstr>
      <vt:lpstr>Pipeline Architecture</vt:lpstr>
      <vt:lpstr>Data Sources &amp; Ingestion</vt:lpstr>
      <vt:lpstr>Data Storage &amp; Management</vt:lpstr>
      <vt:lpstr>Data Processing &amp; Transformation</vt:lpstr>
      <vt:lpstr>Key Insights &amp; Data Analysis</vt:lpstr>
      <vt:lpstr>PowerPoint Presentation</vt:lpstr>
      <vt:lpstr>Results &amp; Business Impact</vt:lpstr>
      <vt:lpstr>Scalability &amp; Future Work</vt:lpstr>
      <vt:lpstr>Challenges &amp; Lessons Learned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2025-02-26T18:02:04Z</dcterms:created>
  <dcterms:modified xsi:type="dcterms:W3CDTF">2025-02-28T07:23:36Z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0x010100735DD0770CC1BE4FB55694ADC73BF9CF</vt:lpwstr>
  </property>
</Properties>
</file>